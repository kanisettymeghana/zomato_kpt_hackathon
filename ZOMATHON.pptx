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nva Sans Bold" charset="1" panose="020B0803030501040103"/>
      <p:regular r:id="rId32"/>
    </p:embeddedFont>
    <p:embeddedFont>
      <p:font typeface="Canva Sans" charset="1" panose="020B0503030501040103"/>
      <p:regular r:id="rId33"/>
    </p:embeddedFont>
    <p:embeddedFont>
      <p:font typeface="Inter Bold" charset="1" panose="020B0802030000000004"/>
      <p:regular r:id="rId34"/>
    </p:embeddedFont>
    <p:embeddedFont>
      <p:font typeface="Inter" charset="1" panose="020B0502030000000004"/>
      <p:regular r:id="rId35"/>
    </p:embeddedFont>
    <p:embeddedFont>
      <p:font typeface="Glacial Indifference" charset="1" panose="00000000000000000000"/>
      <p:regular r:id="rId36"/>
    </p:embeddedFont>
    <p:embeddedFont>
      <p:font typeface="Futura" charset="1" panose="020B0502020204020303"/>
      <p:regular r:id="rId37"/>
    </p:embeddedFont>
    <p:embeddedFont>
      <p:font typeface="Futura Bold" charset="1" panose="020B0702020204020203"/>
      <p:regular r:id="rId38"/>
    </p:embeddedFont>
    <p:embeddedFont>
      <p:font typeface="Bricolage Grotesque Bold" charset="1" panose="020B0605040402000204"/>
      <p:regular r:id="rId39"/>
    </p:embeddedFont>
    <p:embeddedFont>
      <p:font typeface="Glacial Indifference Bold" charset="1" panose="00000800000000000000"/>
      <p:regular r:id="rId40"/>
    </p:embeddedFont>
    <p:embeddedFont>
      <p:font typeface="Alice" charset="1" panose="00000500000000000000"/>
      <p:regular r:id="rId41"/>
    </p:embeddedFont>
    <p:embeddedFont>
      <p:font typeface="Garet" charset="1" panose="00000000000000000000"/>
      <p:regular r:id="rId42"/>
    </p:embeddedFont>
    <p:embeddedFont>
      <p:font typeface="Archivo Black" charset="1" panose="020B0A03020202020B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C9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370" y="792370"/>
            <a:ext cx="472661" cy="4726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756206" y="-514350"/>
            <a:ext cx="6163724" cy="3086100"/>
            <a:chOff x="0" y="0"/>
            <a:chExt cx="162336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3368" cy="812800"/>
            </a:xfrm>
            <a:custGeom>
              <a:avLst/>
              <a:gdLst/>
              <a:ahLst/>
              <a:cxnLst/>
              <a:rect r="r" b="b" t="t" l="l"/>
              <a:pathLst>
                <a:path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582136" y="8362283"/>
            <a:ext cx="7059741" cy="3086100"/>
            <a:chOff x="0" y="0"/>
            <a:chExt cx="18593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9356" cy="812800"/>
            </a:xfrm>
            <a:custGeom>
              <a:avLst/>
              <a:gdLst/>
              <a:ahLst/>
              <a:cxnLst/>
              <a:rect r="r" b="b" t="t" l="l"/>
              <a:pathLst>
                <a:path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6440" y="-2157334"/>
            <a:ext cx="23135972" cy="13013984"/>
          </a:xfrm>
          <a:custGeom>
            <a:avLst/>
            <a:gdLst/>
            <a:ahLst/>
            <a:cxnLst/>
            <a:rect r="r" b="b" t="t" l="l"/>
            <a:pathLst>
              <a:path h="13013984" w="23135972">
                <a:moveTo>
                  <a:pt x="0" y="0"/>
                </a:moveTo>
                <a:lnTo>
                  <a:pt x="23135972" y="0"/>
                </a:lnTo>
                <a:lnTo>
                  <a:pt x="23135972" y="13013984"/>
                </a:lnTo>
                <a:lnTo>
                  <a:pt x="0" y="13013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10909" y="0"/>
            <a:ext cx="11277091" cy="10287000"/>
          </a:xfrm>
          <a:custGeom>
            <a:avLst/>
            <a:gdLst/>
            <a:ahLst/>
            <a:cxnLst/>
            <a:rect r="r" b="b" t="t" l="l"/>
            <a:pathLst>
              <a:path h="10287000" w="11277091">
                <a:moveTo>
                  <a:pt x="0" y="0"/>
                </a:moveTo>
                <a:lnTo>
                  <a:pt x="11277091" y="0"/>
                </a:lnTo>
                <a:lnTo>
                  <a:pt x="1127709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23" t="0" r="-9295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6990" y="311983"/>
            <a:ext cx="17294020" cy="9663034"/>
          </a:xfrm>
          <a:custGeom>
            <a:avLst/>
            <a:gdLst/>
            <a:ahLst/>
            <a:cxnLst/>
            <a:rect r="r" b="b" t="t" l="l"/>
            <a:pathLst>
              <a:path h="9663034" w="17294020">
                <a:moveTo>
                  <a:pt x="0" y="0"/>
                </a:moveTo>
                <a:lnTo>
                  <a:pt x="17294020" y="0"/>
                </a:lnTo>
                <a:lnTo>
                  <a:pt x="17294020" y="9663034"/>
                </a:lnTo>
                <a:lnTo>
                  <a:pt x="0" y="9663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24914" cy="10652340"/>
          </a:xfrm>
          <a:custGeom>
            <a:avLst/>
            <a:gdLst/>
            <a:ahLst/>
            <a:cxnLst/>
            <a:rect r="r" b="b" t="t" l="l"/>
            <a:pathLst>
              <a:path h="10652340" w="18524914">
                <a:moveTo>
                  <a:pt x="0" y="0"/>
                </a:moveTo>
                <a:lnTo>
                  <a:pt x="18524914" y="0"/>
                </a:lnTo>
                <a:lnTo>
                  <a:pt x="18524914" y="10652340"/>
                </a:lnTo>
                <a:lnTo>
                  <a:pt x="0" y="10652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3" t="0" r="-663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800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93094"/>
            <a:ext cx="18288000" cy="4313207"/>
          </a:xfrm>
          <a:custGeom>
            <a:avLst/>
            <a:gdLst/>
            <a:ahLst/>
            <a:cxnLst/>
            <a:rect r="r" b="b" t="t" l="l"/>
            <a:pathLst>
              <a:path h="4313207" w="18288000">
                <a:moveTo>
                  <a:pt x="0" y="0"/>
                </a:moveTo>
                <a:lnTo>
                  <a:pt x="18288000" y="0"/>
                </a:lnTo>
                <a:lnTo>
                  <a:pt x="18288000" y="4313207"/>
                </a:lnTo>
                <a:lnTo>
                  <a:pt x="0" y="4313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29" t="0" r="-302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186" y="270997"/>
            <a:ext cx="10692469" cy="136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29"/>
              </a:lnSpc>
            </a:pPr>
            <a:r>
              <a:rPr lang="en-US" sz="7949" b="true">
                <a:solidFill>
                  <a:srgbClr val="B561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7949">
                <a:solidFill>
                  <a:srgbClr val="B561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urrent Model : Flaws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22164" y="6754627"/>
            <a:ext cx="4756613" cy="185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1"/>
              </a:lnSpc>
            </a:pPr>
            <a:r>
              <a:rPr lang="en-US" sz="352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3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ignal 5:</a:t>
            </a:r>
          </a:p>
          <a:p>
            <a:pPr algn="ctr">
              <a:lnSpc>
                <a:spcPts val="4941"/>
              </a:lnSpc>
            </a:pPr>
            <a:r>
              <a:rPr lang="en-US" b="true" sz="3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Rider matching skill</a:t>
            </a:r>
          </a:p>
          <a:p>
            <a:pPr algn="ctr">
              <a:lnSpc>
                <a:spcPts val="494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316049" y="8179389"/>
            <a:ext cx="4168843" cy="210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1"/>
              </a:lnSpc>
            </a:pPr>
            <a:r>
              <a:rPr lang="en-US" sz="29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all riders are same, some know the area  better than others </a:t>
            </a:r>
          </a:p>
        </p:txBody>
      </p:sp>
      <p:sp>
        <p:nvSpPr>
          <p:cNvPr name="AutoShape 6" id="6"/>
          <p:cNvSpPr/>
          <p:nvPr/>
        </p:nvSpPr>
        <p:spPr>
          <a:xfrm>
            <a:off x="6022164" y="6482501"/>
            <a:ext cx="5181246" cy="0"/>
          </a:xfrm>
          <a:prstGeom prst="line">
            <a:avLst/>
          </a:prstGeom>
          <a:ln cap="flat" w="1524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713" y="5450745"/>
            <a:ext cx="9595342" cy="4836255"/>
          </a:xfrm>
          <a:custGeom>
            <a:avLst/>
            <a:gdLst/>
            <a:ahLst/>
            <a:cxnLst/>
            <a:rect r="r" b="b" t="t" l="l"/>
            <a:pathLst>
              <a:path h="4836255" w="9595342">
                <a:moveTo>
                  <a:pt x="0" y="0"/>
                </a:moveTo>
                <a:lnTo>
                  <a:pt x="9595342" y="0"/>
                </a:lnTo>
                <a:lnTo>
                  <a:pt x="9595342" y="4836255"/>
                </a:lnTo>
                <a:lnTo>
                  <a:pt x="0" y="4836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16" t="-887" r="0" b="-88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22894" y="1028700"/>
            <a:ext cx="8865106" cy="9258300"/>
          </a:xfrm>
          <a:custGeom>
            <a:avLst/>
            <a:gdLst/>
            <a:ahLst/>
            <a:cxnLst/>
            <a:rect r="r" b="b" t="t" l="l"/>
            <a:pathLst>
              <a:path h="9258300" w="8865106">
                <a:moveTo>
                  <a:pt x="0" y="0"/>
                </a:moveTo>
                <a:lnTo>
                  <a:pt x="8865106" y="0"/>
                </a:lnTo>
                <a:lnTo>
                  <a:pt x="8865106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35" r="-195" b="-11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801" y="161973"/>
            <a:ext cx="17982398" cy="64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2"/>
              </a:lnSpc>
              <a:spcBef>
                <a:spcPct val="0"/>
              </a:spcBef>
            </a:pPr>
            <a:r>
              <a:rPr lang="en-US" b="true" sz="3751" u="sng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POS(POINT OF SALE) INTEGRATION WITH KDS(KITCHEN DISPLAY SYSTEM)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734" y="1187140"/>
            <a:ext cx="9060266" cy="852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9372" indent="-264686" lvl="1">
              <a:lnSpc>
                <a:spcPts val="3432"/>
              </a:lnSpc>
              <a:buFont typeface="Arial"/>
              <a:buChar char="•"/>
            </a:pPr>
            <a:r>
              <a:rPr lang="en-US" sz="24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 calculates actual transaction volume, ticket times, order counts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734" y="2210711"/>
            <a:ext cx="8725681" cy="84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4571" indent="-262285" lvl="1">
              <a:lnSpc>
                <a:spcPts val="3401"/>
              </a:lnSpc>
              <a:buFont typeface="Arial"/>
              <a:buChar char="•"/>
            </a:pPr>
            <a:r>
              <a:rPr lang="en-US" sz="24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capt</a:t>
            </a:r>
            <a:r>
              <a:rPr lang="en-US" sz="24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ures real kitchen throughput, not perceived busyness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087380"/>
            <a:ext cx="8809416" cy="87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160" indent="-273080" lvl="1">
              <a:lnSpc>
                <a:spcPts val="3541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Walk-ins and dine-in orders are entered directly by the cashier or server into the terminal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4019574"/>
            <a:ext cx="8611111" cy="132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160" indent="-273080" lvl="1">
              <a:lnSpc>
                <a:spcPts val="3541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KDS tells y</a:t>
            </a:r>
            <a:r>
              <a:rPr lang="en-US" sz="2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 orders actively being cooked right now tickets on screen, time each ticket has been open, which station is backed up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995" y="1829501"/>
            <a:ext cx="8971005" cy="8229600"/>
          </a:xfrm>
          <a:custGeom>
            <a:avLst/>
            <a:gdLst/>
            <a:ahLst/>
            <a:cxnLst/>
            <a:rect r="r" b="b" t="t" l="l"/>
            <a:pathLst>
              <a:path h="8229600" w="8971005">
                <a:moveTo>
                  <a:pt x="0" y="0"/>
                </a:moveTo>
                <a:lnTo>
                  <a:pt x="8971005" y="0"/>
                </a:lnTo>
                <a:lnTo>
                  <a:pt x="897100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660116"/>
            <a:ext cx="9511430" cy="8568370"/>
          </a:xfrm>
          <a:custGeom>
            <a:avLst/>
            <a:gdLst/>
            <a:ahLst/>
            <a:cxnLst/>
            <a:rect r="r" b="b" t="t" l="l"/>
            <a:pathLst>
              <a:path h="8568370" w="9511430">
                <a:moveTo>
                  <a:pt x="0" y="0"/>
                </a:moveTo>
                <a:lnTo>
                  <a:pt x="9511430" y="0"/>
                </a:lnTo>
                <a:lnTo>
                  <a:pt x="9511430" y="8568370"/>
                </a:lnTo>
                <a:lnTo>
                  <a:pt x="0" y="8568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8366" y="141605"/>
            <a:ext cx="88856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KPT actually doing 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2599" y="1435471"/>
            <a:ext cx="14660918" cy="8851529"/>
          </a:xfrm>
          <a:custGeom>
            <a:avLst/>
            <a:gdLst/>
            <a:ahLst/>
            <a:cxnLst/>
            <a:rect r="r" b="b" t="t" l="l"/>
            <a:pathLst>
              <a:path h="8851529" w="14660918">
                <a:moveTo>
                  <a:pt x="0" y="0"/>
                </a:moveTo>
                <a:lnTo>
                  <a:pt x="14660918" y="0"/>
                </a:lnTo>
                <a:lnTo>
                  <a:pt x="14660918" y="8851529"/>
                </a:lnTo>
                <a:lnTo>
                  <a:pt x="0" y="88515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5042"/>
            <a:ext cx="4222557" cy="68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9"/>
              </a:lnSpc>
              <a:spcBef>
                <a:spcPct val="0"/>
              </a:spcBef>
            </a:pPr>
            <a:r>
              <a:rPr lang="en-US" b="true" sz="40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 integration 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843518"/>
            <a:ext cx="18288000" cy="5585564"/>
          </a:xfrm>
          <a:custGeom>
            <a:avLst/>
            <a:gdLst/>
            <a:ahLst/>
            <a:cxnLst/>
            <a:rect r="r" b="b" t="t" l="l"/>
            <a:pathLst>
              <a:path h="5585564" w="18288000">
                <a:moveTo>
                  <a:pt x="0" y="0"/>
                </a:moveTo>
                <a:lnTo>
                  <a:pt x="18288000" y="0"/>
                </a:lnTo>
                <a:lnTo>
                  <a:pt x="18288000" y="5585565"/>
                </a:lnTo>
                <a:lnTo>
                  <a:pt x="0" y="5585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8" t="0" r="-322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71450"/>
            <a:ext cx="1145530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FOOD COMPLEXITY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309369"/>
            <a:ext cx="17177147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b="true" sz="4700">
                <a:solidFill>
                  <a:srgbClr val="6155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Giving the model eyes to see the complexity of preparation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8925242"/>
            <a:ext cx="1828800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Modeling  tuning mapped food order complexity into 4 different tires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7358" y="1028700"/>
            <a:ext cx="9995443" cy="4284602"/>
            <a:chOff x="0" y="0"/>
            <a:chExt cx="2632545" cy="11284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32545" cy="1128455"/>
            </a:xfrm>
            <a:custGeom>
              <a:avLst/>
              <a:gdLst/>
              <a:ahLst/>
              <a:cxnLst/>
              <a:rect r="r" b="b" t="t" l="l"/>
              <a:pathLst>
                <a:path h="1128455" w="2632545">
                  <a:moveTo>
                    <a:pt x="0" y="0"/>
                  </a:moveTo>
                  <a:lnTo>
                    <a:pt x="2632545" y="0"/>
                  </a:lnTo>
                  <a:lnTo>
                    <a:pt x="2632545" y="1128455"/>
                  </a:lnTo>
                  <a:lnTo>
                    <a:pt x="0" y="112845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32545" cy="1176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83033" y="5560952"/>
            <a:ext cx="10387455" cy="4366915"/>
            <a:chOff x="0" y="0"/>
            <a:chExt cx="2735791" cy="11501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5791" cy="1150134"/>
            </a:xfrm>
            <a:custGeom>
              <a:avLst/>
              <a:gdLst/>
              <a:ahLst/>
              <a:cxnLst/>
              <a:rect r="r" b="b" t="t" l="l"/>
              <a:pathLst>
                <a:path h="1150134" w="2735791">
                  <a:moveTo>
                    <a:pt x="0" y="0"/>
                  </a:moveTo>
                  <a:lnTo>
                    <a:pt x="2735791" y="0"/>
                  </a:lnTo>
                  <a:lnTo>
                    <a:pt x="2735791" y="1150134"/>
                  </a:lnTo>
                  <a:lnTo>
                    <a:pt x="0" y="1150134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35791" cy="119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25867" y="-152400"/>
            <a:ext cx="13481865" cy="129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31"/>
              </a:lnSpc>
              <a:spcBef>
                <a:spcPct val="0"/>
              </a:spcBef>
            </a:pPr>
            <a:r>
              <a:rPr lang="en-US" sz="7522">
                <a:solidFill>
                  <a:srgbClr val="61554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CLASSIFICATION </a:t>
            </a:r>
            <a:r>
              <a:rPr lang="en-US" sz="7522">
                <a:solidFill>
                  <a:srgbClr val="5F6F5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487" y="1818935"/>
            <a:ext cx="8510404" cy="332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501" indent="-287750" lvl="1">
              <a:lnSpc>
                <a:spcPts val="3731"/>
              </a:lnSpc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Pre-packed / Ready to go</a:t>
            </a:r>
          </a:p>
          <a:p>
            <a:pPr algn="l" marL="575501" indent="-287750" lvl="1">
              <a:lnSpc>
                <a:spcPts val="3731"/>
              </a:lnSpc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Cold Drink, Bottled Water, Energy Bar, Cookies, Fruit Bowl</a:t>
            </a:r>
          </a:p>
          <a:p>
            <a:pPr algn="l" marL="575501" indent="-287750" lvl="1">
              <a:lnSpc>
                <a:spcPts val="3731"/>
              </a:lnSpc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KPT baseline  : 5 min</a:t>
            </a:r>
          </a:p>
          <a:p>
            <a:pPr algn="l" marL="575501" indent="-287750" lvl="1">
              <a:lnSpc>
                <a:spcPts val="3731"/>
              </a:lnSpc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Sensor mode   : weight only (no heat expected)</a:t>
            </a:r>
          </a:p>
          <a:p>
            <a:pPr algn="l" marL="575501" indent="-287750" lvl="1">
              <a:lnSpc>
                <a:spcPts val="3731"/>
              </a:lnSpc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Confidence    : MEDIUM (packing errors possible)</a:t>
            </a:r>
          </a:p>
          <a:p>
            <a:pPr algn="l" marL="575501" indent="-287750" lvl="1">
              <a:lnSpc>
                <a:spcPts val="3731"/>
              </a:lnSpc>
              <a:spcBef>
                <a:spcPct val="0"/>
              </a:spcBef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Dispatch      : immediately at acceptance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9430" y="6186809"/>
            <a:ext cx="8539588" cy="348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286" indent="-302143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Semi-prepared, cook to order</a:t>
            </a:r>
          </a:p>
          <a:p>
            <a:pPr algn="l" marL="604286" indent="-302143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Dosa, Fried Rice, Egg Bhurji, Noodles, Stuffed Paratha</a:t>
            </a:r>
          </a:p>
          <a:p>
            <a:pPr algn="l" marL="604286" indent="-302143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KPT baseline  : 18 min</a:t>
            </a:r>
          </a:p>
          <a:p>
            <a:pPr algn="l" marL="604286" indent="-302143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Sensor mode   : temperature sensor</a:t>
            </a:r>
          </a:p>
          <a:p>
            <a:pPr algn="l" marL="604286" indent="-302143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Confidence    : HIGH</a:t>
            </a:r>
          </a:p>
          <a:p>
            <a:pPr algn="l" marL="604286" indent="-302143" lvl="1">
              <a:lnSpc>
                <a:spcPts val="3918"/>
              </a:lnSpc>
              <a:spcBef>
                <a:spcPct val="0"/>
              </a:spcBef>
              <a:buFont typeface="Arial"/>
              <a:buChar char="•"/>
            </a:pPr>
            <a:r>
              <a:rPr lang="en-US" sz="279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Dispatch      : standard delay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600" y="1009086"/>
            <a:ext cx="5330983" cy="67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b="true" sz="353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TIER 1: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600" y="5628930"/>
            <a:ext cx="5330983" cy="67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b="true" sz="353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TIER 3: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0" y="1028700"/>
            <a:ext cx="9827033" cy="4284602"/>
            <a:chOff x="0" y="0"/>
            <a:chExt cx="2588190" cy="11284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88190" cy="1128455"/>
            </a:xfrm>
            <a:custGeom>
              <a:avLst/>
              <a:gdLst/>
              <a:ahLst/>
              <a:cxnLst/>
              <a:rect r="r" b="b" t="t" l="l"/>
              <a:pathLst>
                <a:path h="1128455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128455"/>
                  </a:lnTo>
                  <a:lnTo>
                    <a:pt x="0" y="1128455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588190" cy="1176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5560952"/>
            <a:ext cx="9827033" cy="4366915"/>
            <a:chOff x="0" y="0"/>
            <a:chExt cx="2588190" cy="11501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88190" cy="1150134"/>
            </a:xfrm>
            <a:custGeom>
              <a:avLst/>
              <a:gdLst/>
              <a:ahLst/>
              <a:cxnLst/>
              <a:rect r="r" b="b" t="t" l="l"/>
              <a:pathLst>
                <a:path h="1150134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150134"/>
                  </a:lnTo>
                  <a:lnTo>
                    <a:pt x="0" y="1150134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588190" cy="119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238085" y="1828460"/>
            <a:ext cx="9049915" cy="322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572" indent="-279286" lvl="1">
              <a:lnSpc>
                <a:spcPts val="3622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Bulk cooked, needs packing</a:t>
            </a:r>
          </a:p>
          <a:p>
            <a:pPr algn="l" marL="558572" indent="-279286" lvl="1">
              <a:lnSpc>
                <a:spcPts val="3622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Biryani, Dal, Rajma, Halwa, Khichdi</a:t>
            </a:r>
          </a:p>
          <a:p>
            <a:pPr algn="l" marL="558572" indent="-279286" lvl="1">
              <a:lnSpc>
                <a:spcPts val="3622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KPT baseline  : 10 min</a:t>
            </a:r>
          </a:p>
          <a:p>
            <a:pPr algn="l" marL="558572" indent="-279286" lvl="1">
              <a:lnSpc>
                <a:spcPts val="3622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Sensor mode   : temperature + weight (both)</a:t>
            </a:r>
          </a:p>
          <a:p>
            <a:pPr algn="l" marL="558572" indent="-279286" lvl="1">
              <a:lnSpc>
                <a:spcPts val="3622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Confidence    : HIGH (but BATCH_EMPTY risk)</a:t>
            </a:r>
          </a:p>
          <a:p>
            <a:pPr algn="l" marL="558572" indent="-279286" lvl="1">
              <a:lnSpc>
                <a:spcPts val="3622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Dispatch      : soon after acceptance</a:t>
            </a:r>
          </a:p>
          <a:p>
            <a:pPr algn="l" marL="558572" indent="-279286" lvl="1">
              <a:lnSpc>
                <a:spcPts val="3622"/>
              </a:lnSpc>
              <a:spcBef>
                <a:spcPct val="0"/>
              </a:spcBef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Special case  : BATCH_EMPTY → auto upgrade to tier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52034" y="6186809"/>
            <a:ext cx="8529871" cy="344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6674" indent="-298337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Made from scratch</a:t>
            </a:r>
          </a:p>
          <a:p>
            <a:pPr algn="l" marL="596674" indent="-298337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Risotto, Thai Curry, Pre-made Wrap*</a:t>
            </a:r>
          </a:p>
          <a:p>
            <a:pPr algn="l" marL="596674" indent="-298337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KPT baseline  : 28 min</a:t>
            </a:r>
          </a:p>
          <a:p>
            <a:pPr algn="l" marL="596674" indent="-298337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Sensor mode   : temperature sensor</a:t>
            </a:r>
          </a:p>
          <a:p>
            <a:pPr algn="l" marL="596674" indent="-298337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Confidence    : HIGH but wider variance</a:t>
            </a:r>
          </a:p>
          <a:p>
            <a:pPr algn="l" marL="596674" indent="-298337" lvl="1">
              <a:lnSpc>
                <a:spcPts val="3869"/>
              </a:lnSpc>
              <a:spcBef>
                <a:spcPct val="0"/>
              </a:spcBef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Dispatch      : delayed — rider held until close to ready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04422" y="5628930"/>
            <a:ext cx="5330983" cy="67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b="true" sz="353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TIER4: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52034" y="1009086"/>
            <a:ext cx="5330983" cy="67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b="true" sz="353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TIER 2: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1200" y="0"/>
            <a:ext cx="18534400" cy="9767166"/>
          </a:xfrm>
          <a:custGeom>
            <a:avLst/>
            <a:gdLst/>
            <a:ahLst/>
            <a:cxnLst/>
            <a:rect r="r" b="b" t="t" l="l"/>
            <a:pathLst>
              <a:path h="9767166" w="18534400">
                <a:moveTo>
                  <a:pt x="0" y="0"/>
                </a:moveTo>
                <a:lnTo>
                  <a:pt x="18534400" y="0"/>
                </a:lnTo>
                <a:lnTo>
                  <a:pt x="18534400" y="9767166"/>
                </a:lnTo>
                <a:lnTo>
                  <a:pt x="0" y="9767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3" r="0" b="-673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3514" y="2268196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2" y="0"/>
                </a:lnTo>
                <a:lnTo>
                  <a:pt x="9200972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183" y="717776"/>
            <a:ext cx="14861872" cy="9258300"/>
          </a:xfrm>
          <a:custGeom>
            <a:avLst/>
            <a:gdLst/>
            <a:ahLst/>
            <a:cxnLst/>
            <a:rect r="r" b="b" t="t" l="l"/>
            <a:pathLst>
              <a:path h="9258300" w="14861872">
                <a:moveTo>
                  <a:pt x="0" y="0"/>
                </a:moveTo>
                <a:lnTo>
                  <a:pt x="14861872" y="0"/>
                </a:lnTo>
                <a:lnTo>
                  <a:pt x="1486187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0" r="-340" b="-821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58123" y="1028700"/>
            <a:ext cx="7757523" cy="8664700"/>
          </a:xfrm>
          <a:custGeom>
            <a:avLst/>
            <a:gdLst/>
            <a:ahLst/>
            <a:cxnLst/>
            <a:rect r="r" b="b" t="t" l="l"/>
            <a:pathLst>
              <a:path h="8664700" w="7757523">
                <a:moveTo>
                  <a:pt x="0" y="0"/>
                </a:moveTo>
                <a:lnTo>
                  <a:pt x="7757523" y="0"/>
                </a:lnTo>
                <a:lnTo>
                  <a:pt x="7757523" y="8664700"/>
                </a:lnTo>
                <a:lnTo>
                  <a:pt x="0" y="8664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8000" y="1183243"/>
            <a:ext cx="5496225" cy="279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0"/>
              </a:lnSpc>
            </a:pPr>
            <a:r>
              <a:rPr lang="en-US" sz="2650" b="true">
                <a:solidFill>
                  <a:srgbClr val="B561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faced:</a:t>
            </a:r>
          </a:p>
          <a:p>
            <a:pPr algn="ctr">
              <a:lnSpc>
                <a:spcPts val="3710"/>
              </a:lnSpc>
            </a:pPr>
            <a:r>
              <a:rPr lang="en-US" sz="26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merchants press the food ready(FOR) button</a:t>
            </a:r>
          </a:p>
          <a:p>
            <a:pPr algn="ctr">
              <a:lnSpc>
                <a:spcPts val="3710"/>
              </a:lnSpc>
            </a:pPr>
            <a:r>
              <a:rPr lang="en-US" sz="26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early to avoid penalties feeding the model the wrong information </a:t>
            </a:r>
          </a:p>
          <a:p>
            <a:pPr algn="ctr">
              <a:lnSpc>
                <a:spcPts val="3710"/>
              </a:lnSpc>
              <a:spcBef>
                <a:spcPct val="0"/>
              </a:spcBef>
            </a:pPr>
            <a:r>
              <a:rPr lang="en-US" b="true" sz="265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causing biased orders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5095875"/>
            <a:ext cx="5034225" cy="369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9"/>
              </a:lnSpc>
            </a:pPr>
            <a:r>
              <a:rPr lang="en-US" sz="2621" b="true">
                <a:solidFill>
                  <a:srgbClr val="B561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 :</a:t>
            </a:r>
          </a:p>
          <a:p>
            <a:pPr algn="ctr">
              <a:lnSpc>
                <a:spcPts val="3669"/>
              </a:lnSpc>
            </a:pPr>
            <a:r>
              <a:rPr lang="en-US" sz="26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IoT temperature and weight sensors installed on the pick up shelves will detect that the order is completed.</a:t>
            </a:r>
          </a:p>
          <a:p>
            <a:pPr algn="ctr">
              <a:lnSpc>
                <a:spcPts val="3669"/>
              </a:lnSpc>
            </a:pPr>
          </a:p>
          <a:p>
            <a:pPr algn="ctr">
              <a:lnSpc>
                <a:spcPts val="3669"/>
              </a:lnSpc>
            </a:pPr>
          </a:p>
          <a:p>
            <a:pPr algn="ctr">
              <a:lnSpc>
                <a:spcPts val="366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265225" y="3729212"/>
            <a:ext cx="3732945" cy="2780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</a:pPr>
            <a:r>
              <a:rPr lang="en-US" sz="2638" b="true">
                <a:solidFill>
                  <a:srgbClr val="B561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result:</a:t>
            </a:r>
          </a:p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b="true" sz="26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96.5% reduction in FOR error. The average error drops from 4 minutes approx to 0.17 minutes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58199"/>
            <a:ext cx="11267559" cy="77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6"/>
              </a:lnSpc>
              <a:spcBef>
                <a:spcPct val="0"/>
              </a:spcBef>
            </a:pPr>
            <a:r>
              <a:rPr lang="en-US" b="true" sz="454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IOT SENSORS : REPLACING HUMAN BIAS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8000" y="8095843"/>
            <a:ext cx="8581606" cy="182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7"/>
              </a:lnSpc>
            </a:pPr>
            <a:r>
              <a:rPr lang="en-US" sz="5276" b="true">
                <a:solidFill>
                  <a:srgbClr val="B5614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Zero merchant </a:t>
            </a:r>
          </a:p>
          <a:p>
            <a:pPr algn="ctr">
              <a:lnSpc>
                <a:spcPts val="7387"/>
              </a:lnSpc>
              <a:spcBef>
                <a:spcPct val="0"/>
              </a:spcBef>
            </a:pPr>
            <a:r>
              <a:rPr lang="en-US" b="true" sz="5276">
                <a:solidFill>
                  <a:srgbClr val="B5614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invlovement required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28255" y="335990"/>
            <a:ext cx="14431489" cy="9615020"/>
          </a:xfrm>
          <a:custGeom>
            <a:avLst/>
            <a:gdLst/>
            <a:ahLst/>
            <a:cxnLst/>
            <a:rect r="r" b="b" t="t" l="l"/>
            <a:pathLst>
              <a:path h="9615020" w="14431489">
                <a:moveTo>
                  <a:pt x="0" y="0"/>
                </a:moveTo>
                <a:lnTo>
                  <a:pt x="14431490" y="0"/>
                </a:lnTo>
                <a:lnTo>
                  <a:pt x="14431490" y="9615020"/>
                </a:lnTo>
                <a:lnTo>
                  <a:pt x="0" y="9615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7" t="-334" r="-167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414" y="168420"/>
            <a:ext cx="17306702" cy="9735020"/>
          </a:xfrm>
          <a:custGeom>
            <a:avLst/>
            <a:gdLst/>
            <a:ahLst/>
            <a:cxnLst/>
            <a:rect r="r" b="b" t="t" l="l"/>
            <a:pathLst>
              <a:path h="9735020" w="17306702">
                <a:moveTo>
                  <a:pt x="0" y="0"/>
                </a:moveTo>
                <a:lnTo>
                  <a:pt x="17306702" y="0"/>
                </a:lnTo>
                <a:lnTo>
                  <a:pt x="17306702" y="9735020"/>
                </a:lnTo>
                <a:lnTo>
                  <a:pt x="0" y="9735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3645" y="387747"/>
            <a:ext cx="17535057" cy="3970352"/>
          </a:xfrm>
          <a:custGeom>
            <a:avLst/>
            <a:gdLst/>
            <a:ahLst/>
            <a:cxnLst/>
            <a:rect r="r" b="b" t="t" l="l"/>
            <a:pathLst>
              <a:path h="3970352" w="17535057">
                <a:moveTo>
                  <a:pt x="0" y="0"/>
                </a:moveTo>
                <a:lnTo>
                  <a:pt x="17535057" y="0"/>
                </a:lnTo>
                <a:lnTo>
                  <a:pt x="17535057" y="3970352"/>
                </a:lnTo>
                <a:lnTo>
                  <a:pt x="0" y="397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111" r="0" b="-2500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0531" y="4923180"/>
            <a:ext cx="16260298" cy="44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sz="25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Once the food package hits the pickup shelf, it is notified that food is ready to be picked 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0531" y="5459957"/>
            <a:ext cx="17158171" cy="44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sz="25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rider assigned-picks up the order by accepting the package in the app and starts off to deliver the food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6978" y="6679189"/>
            <a:ext cx="3490317" cy="39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ETA P50/P90 Accuracy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3397" y="7360334"/>
            <a:ext cx="4484470" cy="189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False precision is eliminated. KPT+confidence scores predict the accurate time by classifying the food and displaying the rider order dispatch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91920" y="6679189"/>
            <a:ext cx="3490317" cy="39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Order Delay Rate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92481" y="7360334"/>
            <a:ext cx="4227135" cy="227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Overloaded kitchens are caught by the kitchen_rush_score and any delay in delivery would update the ETA time so the customers would know that their order will be delayed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64709" y="6679189"/>
            <a:ext cx="2629396" cy="39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Rider assignment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5150" y="7360334"/>
            <a:ext cx="3288515" cy="189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riders are assigned by collecting their pre=historical data and the familiarity of the area ensuring fast delivery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02977" y="6679189"/>
            <a:ext cx="3756323" cy="39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Rider idle between orders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42765" y="7360334"/>
            <a:ext cx="4455937" cy="189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When the rider is almost nearing to the drop location, an other  order to be picked up nearby will be assigned to the rider, making them less idle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49128" y="2496264"/>
            <a:ext cx="9838872" cy="6762036"/>
          </a:xfrm>
          <a:custGeom>
            <a:avLst/>
            <a:gdLst/>
            <a:ahLst/>
            <a:cxnLst/>
            <a:rect r="r" b="b" t="t" l="l"/>
            <a:pathLst>
              <a:path h="6762036" w="9838872">
                <a:moveTo>
                  <a:pt x="0" y="0"/>
                </a:moveTo>
                <a:lnTo>
                  <a:pt x="9838872" y="0"/>
                </a:lnTo>
                <a:lnTo>
                  <a:pt x="9838872" y="6762036"/>
                </a:lnTo>
                <a:lnTo>
                  <a:pt x="0" y="676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18" t="0" r="-28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54479" y="298358"/>
            <a:ext cx="12379042" cy="138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9"/>
              </a:lnSpc>
              <a:spcBef>
                <a:spcPct val="0"/>
              </a:spcBef>
            </a:pPr>
            <a:r>
              <a:rPr lang="en-US" b="true" sz="399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Establishing a feedback loop for merchant reliablity: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7233" y="1920145"/>
            <a:ext cx="9096661" cy="730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built a 5 component merchant reliability score to scale correction strength</a:t>
            </a:r>
          </a:p>
          <a:p>
            <a:pPr algn="ctr">
              <a:lnSpc>
                <a:spcPts val="4801"/>
              </a:lnSpc>
            </a:pPr>
          </a:p>
          <a:p>
            <a:pPr algn="l" marL="740460" indent="-370230" lvl="1">
              <a:lnSpc>
                <a:spcPts val="4801"/>
              </a:lnSpc>
              <a:buFont typeface="Arial"/>
              <a:buChar char="•"/>
            </a:pPr>
            <a:r>
              <a:rPr lang="en-US" b="true" sz="342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Acceptance speed</a:t>
            </a:r>
            <a:r>
              <a:rPr lang="en-US" sz="34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: How fast the orders are acknowledged.</a:t>
            </a:r>
          </a:p>
          <a:p>
            <a:pPr algn="l" marL="740460" indent="-370230" lvl="1">
              <a:lnSpc>
                <a:spcPts val="4801"/>
              </a:lnSpc>
              <a:buFont typeface="Arial"/>
              <a:buChar char="•"/>
            </a:pPr>
            <a:r>
              <a:rPr lang="en-US" b="true" sz="342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FOR accuracy history</a:t>
            </a:r>
            <a:r>
              <a:rPr lang="en-US" sz="34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: how objective were their past signals.</a:t>
            </a:r>
          </a:p>
          <a:p>
            <a:pPr algn="l" marL="740460" indent="-370230" lvl="1">
              <a:lnSpc>
                <a:spcPts val="4801"/>
              </a:lnSpc>
              <a:buFont typeface="Arial"/>
              <a:buChar char="•"/>
            </a:pPr>
            <a:r>
              <a:rPr lang="en-US" b="true" sz="342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Rider wait history</a:t>
            </a:r>
            <a:r>
              <a:rPr lang="en-US" sz="34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: actual wait times at the premises</a:t>
            </a:r>
          </a:p>
          <a:p>
            <a:pPr algn="l" marL="740460" indent="-370230" lvl="1">
              <a:lnSpc>
                <a:spcPts val="4801"/>
              </a:lnSpc>
              <a:buFont typeface="Arial"/>
              <a:buChar char="•"/>
            </a:pPr>
            <a:r>
              <a:rPr lang="en-US" b="true" sz="342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Rejection rate </a:t>
            </a:r>
            <a:r>
              <a:rPr lang="en-US" sz="34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cancellation frequency.</a:t>
            </a:r>
          </a:p>
          <a:p>
            <a:pPr algn="l" marL="740460" indent="-370230" lvl="1">
              <a:lnSpc>
                <a:spcPts val="4801"/>
              </a:lnSpc>
              <a:buFont typeface="Arial"/>
              <a:buChar char="•"/>
            </a:pPr>
            <a:r>
              <a:rPr lang="en-US" b="true" sz="342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Customer complaint rate</a:t>
            </a:r>
            <a:r>
              <a:rPr lang="en-US" sz="34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: quality and accuracy issues.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50386"/>
            <a:ext cx="10790506" cy="8536614"/>
          </a:xfrm>
          <a:custGeom>
            <a:avLst/>
            <a:gdLst/>
            <a:ahLst/>
            <a:cxnLst/>
            <a:rect r="r" b="b" t="t" l="l"/>
            <a:pathLst>
              <a:path h="8536614" w="10790506">
                <a:moveTo>
                  <a:pt x="0" y="0"/>
                </a:moveTo>
                <a:lnTo>
                  <a:pt x="10790506" y="0"/>
                </a:lnTo>
                <a:lnTo>
                  <a:pt x="10790506" y="8536614"/>
                </a:lnTo>
                <a:lnTo>
                  <a:pt x="0" y="853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71450"/>
            <a:ext cx="1387241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6155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do we need buffer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790506" y="2625220"/>
            <a:ext cx="7291162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6155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merchants without  hardware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90506" y="3894935"/>
            <a:ext cx="7291162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1554B"/>
                </a:solidFill>
                <a:latin typeface="Canva Sans"/>
                <a:ea typeface="Canva Sans"/>
                <a:cs typeface="Canva Sans"/>
                <a:sym typeface="Canva Sans"/>
              </a:rPr>
              <a:t>a bias correction layer maps the 76.6% of merchants with systhematic, correctable bias, applying historical error correction factors before the signal reaches the model reducing noice- 9.1% improvement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88817" y="2182026"/>
            <a:ext cx="11799183" cy="7317521"/>
          </a:xfrm>
          <a:custGeom>
            <a:avLst/>
            <a:gdLst/>
            <a:ahLst/>
            <a:cxnLst/>
            <a:rect r="r" b="b" t="t" l="l"/>
            <a:pathLst>
              <a:path h="7317521" w="11799183">
                <a:moveTo>
                  <a:pt x="0" y="0"/>
                </a:moveTo>
                <a:lnTo>
                  <a:pt x="11799183" y="0"/>
                </a:lnTo>
                <a:lnTo>
                  <a:pt x="11799183" y="7317521"/>
                </a:lnTo>
                <a:lnTo>
                  <a:pt x="0" y="731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9" t="-9119" r="0" b="-469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4350" y="495514"/>
            <a:ext cx="17259300" cy="168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2"/>
              </a:lnSpc>
              <a:spcBef>
                <a:spcPct val="0"/>
              </a:spcBef>
            </a:pPr>
            <a:r>
              <a:rPr lang="en-US" b="true" sz="48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SCALABILITY ACROSS RESTAURANTS: OUR MAIN CONCERN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1513" y="3361343"/>
            <a:ext cx="7545569" cy="569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8"/>
              </a:lnSpc>
            </a:pPr>
            <a:r>
              <a:rPr lang="en-US" sz="32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IoT hardware and POS integration cannot scale to</a:t>
            </a:r>
            <a:r>
              <a:rPr lang="en-US" sz="322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2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300,000+ merchants overnight.</a:t>
            </a:r>
          </a:p>
          <a:p>
            <a:pPr algn="l">
              <a:lnSpc>
                <a:spcPts val="4508"/>
              </a:lnSpc>
            </a:pPr>
          </a:p>
          <a:p>
            <a:pPr algn="l">
              <a:lnSpc>
                <a:spcPts val="4508"/>
              </a:lnSpc>
            </a:pPr>
            <a:r>
              <a:rPr lang="en-US" sz="32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designed a tiered development based on order volume impact.</a:t>
            </a:r>
          </a:p>
          <a:p>
            <a:pPr algn="l">
              <a:lnSpc>
                <a:spcPts val="4508"/>
              </a:lnSpc>
            </a:pPr>
          </a:p>
          <a:p>
            <a:pPr algn="l">
              <a:lnSpc>
                <a:spcPts val="4508"/>
              </a:lnSpc>
              <a:spcBef>
                <a:spcPct val="0"/>
              </a:spcBef>
            </a:pPr>
            <a:r>
              <a:rPr lang="en-US" sz="32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merchant os left on a broken signal. Total ecosystem coverage immediately.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4960" y="0"/>
            <a:ext cx="19232960" cy="10245293"/>
          </a:xfrm>
          <a:custGeom>
            <a:avLst/>
            <a:gdLst/>
            <a:ahLst/>
            <a:cxnLst/>
            <a:rect r="r" b="b" t="t" l="l"/>
            <a:pathLst>
              <a:path h="10245293" w="19232960">
                <a:moveTo>
                  <a:pt x="0" y="0"/>
                </a:moveTo>
                <a:lnTo>
                  <a:pt x="19232960" y="0"/>
                </a:lnTo>
                <a:lnTo>
                  <a:pt x="19232960" y="10245293"/>
                </a:lnTo>
                <a:lnTo>
                  <a:pt x="0" y="10245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7" t="-10007" r="-6928" b="-9618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90" y="7647535"/>
            <a:ext cx="10606734" cy="1610765"/>
          </a:xfrm>
          <a:custGeom>
            <a:avLst/>
            <a:gdLst/>
            <a:ahLst/>
            <a:cxnLst/>
            <a:rect r="r" b="b" t="t" l="l"/>
            <a:pathLst>
              <a:path h="1610765" w="10606734">
                <a:moveTo>
                  <a:pt x="0" y="0"/>
                </a:moveTo>
                <a:lnTo>
                  <a:pt x="10606734" y="0"/>
                </a:lnTo>
                <a:lnTo>
                  <a:pt x="10606734" y="1610765"/>
                </a:lnTo>
                <a:lnTo>
                  <a:pt x="0" y="1610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806" y="3012760"/>
            <a:ext cx="7526644" cy="1050229"/>
          </a:xfrm>
          <a:custGeom>
            <a:avLst/>
            <a:gdLst/>
            <a:ahLst/>
            <a:cxnLst/>
            <a:rect r="r" b="b" t="t" l="l"/>
            <a:pathLst>
              <a:path h="1050229" w="7526644">
                <a:moveTo>
                  <a:pt x="0" y="0"/>
                </a:moveTo>
                <a:lnTo>
                  <a:pt x="7526644" y="0"/>
                </a:lnTo>
                <a:lnTo>
                  <a:pt x="7526644" y="1050230"/>
                </a:lnTo>
                <a:lnTo>
                  <a:pt x="0" y="1050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91934" y="-117842"/>
            <a:ext cx="6543399" cy="9815099"/>
          </a:xfrm>
          <a:custGeom>
            <a:avLst/>
            <a:gdLst/>
            <a:ahLst/>
            <a:cxnLst/>
            <a:rect r="r" b="b" t="t" l="l"/>
            <a:pathLst>
              <a:path h="9815099" w="6543399">
                <a:moveTo>
                  <a:pt x="0" y="0"/>
                </a:moveTo>
                <a:lnTo>
                  <a:pt x="6543399" y="0"/>
                </a:lnTo>
                <a:lnTo>
                  <a:pt x="6543399" y="9815098"/>
                </a:lnTo>
                <a:lnTo>
                  <a:pt x="0" y="9815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929" y="-95250"/>
            <a:ext cx="9496921" cy="81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2"/>
              </a:lnSpc>
              <a:spcBef>
                <a:spcPct val="0"/>
              </a:spcBef>
            </a:pPr>
            <a:r>
              <a:rPr lang="en-US" b="true" sz="47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How we avoid cancellation rates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1806" y="884800"/>
            <a:ext cx="4594820" cy="55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087" indent="-351044" lvl="1">
              <a:lnSpc>
                <a:spcPts val="4552"/>
              </a:lnSpc>
              <a:buFont typeface="Arial"/>
              <a:buChar char="•"/>
            </a:pPr>
            <a:r>
              <a:rPr lang="en-US" b="true" sz="3251">
                <a:solidFill>
                  <a:srgbClr val="00BF63"/>
                </a:solidFill>
                <a:latin typeface="Inter Bold"/>
                <a:ea typeface="Inter Bold"/>
                <a:cs typeface="Inter Bold"/>
                <a:sym typeface="Inter Bold"/>
              </a:rPr>
              <a:t>Honest, Tight ETA’s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1806" y="1617200"/>
            <a:ext cx="9972142" cy="99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2"/>
              </a:lnSpc>
              <a:spcBef>
                <a:spcPct val="0"/>
              </a:spcBef>
            </a:pPr>
            <a:r>
              <a:rPr lang="en-US" sz="28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IoT+better KPT inputs cut ETA P50 error from 5.28 ⟶ 1.38 mins.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1806" y="4554903"/>
            <a:ext cx="7526644" cy="58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5266" indent="-372633" lvl="1">
              <a:lnSpc>
                <a:spcPts val="4832"/>
              </a:lnSpc>
              <a:buFont typeface="Arial"/>
              <a:buChar char="•"/>
            </a:pPr>
            <a:r>
              <a:rPr lang="en-US" b="true" sz="3451">
                <a:solidFill>
                  <a:srgbClr val="38CE77"/>
                </a:solidFill>
                <a:latin typeface="Inter Bold"/>
                <a:ea typeface="Inter Bold"/>
                <a:cs typeface="Inter Bold"/>
                <a:sym typeface="Inter Bold"/>
              </a:rPr>
              <a:t>Dispatch Exactly on 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929" y="5740822"/>
            <a:ext cx="9918243" cy="14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  <a:spcBef>
                <a:spcPct val="0"/>
              </a:spcBef>
            </a:pPr>
            <a:r>
              <a:rPr lang="en-US" sz="27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IoT sensor fires when food hits the shelf and the rider is dispatched at that exact moment. 9.72 min wait collapses to 0.42 min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0" r="-3571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7773"/>
            <a:ext cx="18288000" cy="10091453"/>
          </a:xfrm>
          <a:custGeom>
            <a:avLst/>
            <a:gdLst/>
            <a:ahLst/>
            <a:cxnLst/>
            <a:rect r="r" b="b" t="t" l="l"/>
            <a:pathLst>
              <a:path h="10091453" w="18288000">
                <a:moveTo>
                  <a:pt x="0" y="0"/>
                </a:moveTo>
                <a:lnTo>
                  <a:pt x="18288000" y="0"/>
                </a:lnTo>
                <a:lnTo>
                  <a:pt x="18288000" y="10091454"/>
                </a:lnTo>
                <a:lnTo>
                  <a:pt x="0" y="10091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80" t="0" r="-218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492397" cy="10287000"/>
          </a:xfrm>
          <a:custGeom>
            <a:avLst/>
            <a:gdLst/>
            <a:ahLst/>
            <a:cxnLst/>
            <a:rect r="r" b="b" t="t" l="l"/>
            <a:pathLst>
              <a:path h="10287000" w="9492397">
                <a:moveTo>
                  <a:pt x="0" y="0"/>
                </a:moveTo>
                <a:lnTo>
                  <a:pt x="9492397" y="0"/>
                </a:lnTo>
                <a:lnTo>
                  <a:pt x="94923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10" t="0" r="-1880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2397" y="125505"/>
            <a:ext cx="8795603" cy="10035990"/>
          </a:xfrm>
          <a:custGeom>
            <a:avLst/>
            <a:gdLst/>
            <a:ahLst/>
            <a:cxnLst/>
            <a:rect r="r" b="b" t="t" l="l"/>
            <a:pathLst>
              <a:path h="10035990" w="8795603">
                <a:moveTo>
                  <a:pt x="0" y="0"/>
                </a:moveTo>
                <a:lnTo>
                  <a:pt x="8795603" y="0"/>
                </a:lnTo>
                <a:lnTo>
                  <a:pt x="8795603" y="10035990"/>
                </a:lnTo>
                <a:lnTo>
                  <a:pt x="0" y="10035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95" t="0" r="-25284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84599" y="2085783"/>
          <a:ext cx="16882720" cy="4918741"/>
        </p:xfrm>
        <a:graphic>
          <a:graphicData uri="http://schemas.openxmlformats.org/drawingml/2006/table">
            <a:tbl>
              <a:tblPr/>
              <a:tblGrid>
                <a:gridCol w="8441360"/>
                <a:gridCol w="8441360"/>
              </a:tblGrid>
              <a:tr h="12215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159"/>
                        </a:lnSpc>
                        <a:defRPr/>
                      </a:pPr>
                      <a:r>
                        <a:rPr lang="en-US" sz="4399">
                          <a:solidFill>
                            <a:srgbClr val="465739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BEFORE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159"/>
                        </a:lnSpc>
                        <a:defRPr/>
                      </a:pPr>
                      <a:r>
                        <a:rPr lang="en-US" sz="4399">
                          <a:solidFill>
                            <a:srgbClr val="465739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AFTER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9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465739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Biased FOR signal - 4.75 min error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465739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objective IoT sensor signal (0.17 min error)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97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465739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No food complexity - All food looks the same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465739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4- Tier classification assigned at acceptance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2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465739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Broken rush score R² = 0.000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465739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Combined POS + KDS score across all channels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7467319" y="-28383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4599" y="613769"/>
            <a:ext cx="5585369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 CONCLUDE 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84599" y="6958016"/>
          <a:ext cx="16882720" cy="2487141"/>
        </p:xfrm>
        <a:graphic>
          <a:graphicData uri="http://schemas.openxmlformats.org/drawingml/2006/table">
            <a:tbl>
              <a:tblPr/>
              <a:tblGrid>
                <a:gridCol w="8441360"/>
                <a:gridCol w="8441360"/>
              </a:tblGrid>
              <a:tr h="7946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F6F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No reliability signal - All merchants equal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F6F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5- component merchant trust score scaling correction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0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F6F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Signal KPT number - False 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5F6F52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KPT + confidence score (Honest uncertainty range)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557"/>
          </a:xfrm>
          <a:custGeom>
            <a:avLst/>
            <a:gdLst/>
            <a:ahLst/>
            <a:cxnLst/>
            <a:rect r="r" b="b" t="t" l="l"/>
            <a:pathLst>
              <a:path h="10287557" w="18288000">
                <a:moveTo>
                  <a:pt x="0" y="0"/>
                </a:moveTo>
                <a:lnTo>
                  <a:pt x="18288000" y="0"/>
                </a:lnTo>
                <a:lnTo>
                  <a:pt x="18288000" y="10287557"/>
                </a:lnTo>
                <a:lnTo>
                  <a:pt x="0" y="10287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19" r="0" b="-921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DAHC01yhlrI</dc:identifier>
  <dcterms:modified xsi:type="dcterms:W3CDTF">2011-08-01T06:04:30Z</dcterms:modified>
  <cp:revision>1</cp:revision>
  <dc:title>TIER classification</dc:title>
</cp:coreProperties>
</file>